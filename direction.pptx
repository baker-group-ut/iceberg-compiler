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73"/>
    <p:restoredTop sz="94656"/>
  </p:normalViewPr>
  <p:slideViewPr>
    <p:cSldViewPr snapToGrid="0">
      <p:cViewPr>
        <p:scale>
          <a:sx n="204" d="100"/>
          <a:sy n="204" d="100"/>
        </p:scale>
        <p:origin x="4824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AFBB3-8DFF-EF2E-1C0E-C1B0E01A3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31789B-ADA5-78BC-EC05-CCFE01F501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67828-5F95-6603-02AD-47A16671F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CB6A2-3D6E-DC65-F404-02284E68F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8BE5E-F899-DF7C-F71F-CF7B45CF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98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5D21-DB85-558A-7448-250628C16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15C63-C703-B023-C403-8DA34C171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36463-E4A5-FB11-93F0-8DF322C5F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FDC29-A0D4-D324-D00B-A0EFB41F6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AC528-FAFB-6D94-D973-1F47F13E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699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5D30-6816-C828-689F-570FEB9D6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F452D-15A8-27C3-9B4B-34E465AA8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EFAC5-AB40-6DBB-E3B8-AFE69BCA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4D666-A526-D365-B6E7-41CAF0A4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E233B-6F56-969B-FFBD-8FC868C3B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60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3D7E-4D9F-F407-FAFD-AA095BF1A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FD35D-E164-C392-423F-173BFDDDC3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9EEDC-746B-5EB7-EF9B-3AF0EEACB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50855-4EF7-DFB6-52A3-673059B5E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08023-C1FD-7FDC-2EF3-96A8FA99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2B637-3E2A-B1C4-F8ED-5886A3551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7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F2E0-921C-2408-AD59-7DA940219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FCD82-86AE-3DD1-27A6-BD6728DDD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B82A8-61B1-45A1-C987-6A74A0FC5A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C1FFF-AD7D-25B8-A5A5-E28FDBFC1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A68BE-7B5B-03A8-390B-11E49D3B8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0216A-F38E-9602-EE7D-5B172D5C1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050A52-D2DC-0A3D-F420-D718C1EB0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A91F71-5B0F-EB13-B1A2-24511C071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5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BAA92-E45B-5EF5-9FFF-20084B897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EF4B57-4421-62FD-3B5A-43188640C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219673-826A-3049-B964-929BFA7D0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C6B5C4-F249-199A-35C0-6380DD07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25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51946-5154-0D6D-4769-633061A15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05D113-1900-85CA-29FA-31E725BFA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05F45-DBD0-CF2B-1C9A-A477C98F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918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EE1F-59AC-EC88-DDF1-B70F3FFEF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4CC88-ABF9-AC3E-B8D6-31617E8E0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14AB6A-03B3-B186-5B84-F5F90F145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E16F2-68AF-5F04-10DA-DAB6738B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A7D8A-D556-D441-F59E-6DC4175A4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AC2557-EA01-D0CA-CFA7-F35950E5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39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C65EC-09BC-39B5-57E3-5EB82E9EF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529015-E40A-C94A-C490-16EC31665B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4E73A-8116-B1E9-F130-B4968B8F5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313C5C-AFD2-A4F8-E54F-6395355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0963B-5225-7E61-88BD-E923F5F42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31742-426D-7BE1-59F8-31E625D9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45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7EE97-75E8-A072-2A0A-71AED0836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02CFF-7B0B-0843-F523-51B5FEAC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0527A-97D6-39F1-230F-BEFAD94EF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E3C6E-121B-C1EC-F57E-9BB79CBA7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CAD7F-C4E3-AAB4-8F6C-A0151768B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4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C34C23-12D2-9ED6-4678-EE0CB24E3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57C8BF-4412-68ED-D9E6-98EE688DA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9B85E-A5F2-A622-3808-6CE31468B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3A143-C849-9B36-9F48-14FA7C2D2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DEB47-966B-F1D1-8511-1CBE15A5D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3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B9AB5-416C-801B-92AC-D6F0CEA2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0ABD2-C954-609C-D379-1217B509D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5C089-5F58-4BCF-2AF2-26E0719B0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4604FD-B602-FC49-9746-E8C71C959787}" type="datetimeFigureOut">
              <a:rPr lang="en-US" smtClean="0"/>
              <a:t>3/28/25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05B9B-BC3A-F505-E2B4-DB804D66E6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70689-580B-7D5D-AB3C-812FD3718C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D28D65-6709-AC44-BD82-C49EDBEFD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22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arxiv.org/abs/1507.08852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0903.5256" TargetMode="External"/><Relationship Id="rId2" Type="http://schemas.openxmlformats.org/officeDocument/2006/relationships/hyperlink" Target="https://arxiv.org/abs/quant-ph/9705052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03/PRXQuantum.5.010337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1145/3676641.3716018" TargetMode="External"/><Relationship Id="rId4" Type="http://schemas.openxmlformats.org/officeDocument/2006/relationships/hyperlink" Target="https://doi.org/10.48550/arXiv.2303.17380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2C289-DDE4-012D-DBC4-069E6A0F29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Baker Group &lt;&gt; </a:t>
            </a:r>
            <a:r>
              <a:rPr lang="en-US" dirty="0" err="1"/>
              <a:t>Infleqtion</a:t>
            </a:r>
            <a:br>
              <a:rPr lang="en-US" dirty="0"/>
            </a:br>
            <a:r>
              <a:rPr lang="en-US" dirty="0"/>
              <a:t>Exploration Direction and Potential Challenges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8B5E73-9E71-FF23-7DEF-67CC5F60AC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Sayam Sethi, Maxwell Poster, Aditi Awasthi, Ali </a:t>
            </a:r>
            <a:r>
              <a:rPr lang="en-US" dirty="0" err="1"/>
              <a:t>Khamseen</a:t>
            </a:r>
            <a:endParaRPr lang="en-US" dirty="0"/>
          </a:p>
          <a:p>
            <a:r>
              <a:rPr lang="en-US" dirty="0"/>
              <a:t>Jonathan Baker</a:t>
            </a:r>
          </a:p>
        </p:txBody>
      </p:sp>
    </p:spTree>
    <p:extLst>
      <p:ext uri="{BB962C8B-B14F-4D97-AF65-F5344CB8AC3E}">
        <p14:creationId xmlns:p14="http://schemas.microsoft.com/office/powerpoint/2010/main" val="353198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A8755-63DE-5727-6E2C-3CBE93869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7BB51-380A-679B-1875-23576BEFC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Generate the circuit that we want to run without being “hacky”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Ideally the circuit should not optimize anything across the oracle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No mid-circuit measurements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Explore different Quantum Error Detection (QED) codes and compute efficient implementations of logical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Once we have 1 and 2 working, perform mapping and compilation in the joint search space</a:t>
            </a:r>
          </a:p>
        </p:txBody>
      </p:sp>
    </p:spTree>
    <p:extLst>
      <p:ext uri="{BB962C8B-B14F-4D97-AF65-F5344CB8AC3E}">
        <p14:creationId xmlns:p14="http://schemas.microsoft.com/office/powerpoint/2010/main" val="217501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ED9F-5E91-F596-29A8-AAE8E094F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7913E-A3A6-C347-207A-FA14C8EA6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en-US" dirty="0"/>
              <a:t>The circuit from </a:t>
            </a:r>
            <a:r>
              <a:rPr lang="en-US" dirty="0">
                <a:hlinkClick r:id="rId2"/>
              </a:rPr>
              <a:t>[1]</a:t>
            </a:r>
            <a:r>
              <a:rPr lang="en-US" dirty="0"/>
              <a:t> has conditional gates on the control</a:t>
            </a:r>
          </a:p>
          <a:p>
            <a:r>
              <a:rPr lang="en-US" dirty="0"/>
              <a:t>Not (currently) supported on the NA architecture</a:t>
            </a:r>
          </a:p>
          <a:p>
            <a:r>
              <a:rPr lang="en-US" dirty="0"/>
              <a:t>One </a:t>
            </a:r>
            <a:r>
              <a:rPr lang="en-US" i="1" dirty="0"/>
              <a:t>trick</a:t>
            </a:r>
            <a:r>
              <a:rPr lang="en-US" dirty="0"/>
              <a:t> might be post-select only one branch of the measurement</a:t>
            </a:r>
          </a:p>
          <a:p>
            <a:pPr lvl="1"/>
            <a:r>
              <a:rPr lang="en-US" dirty="0"/>
              <a:t>But this still needs more qubits</a:t>
            </a:r>
          </a:p>
          <a:p>
            <a:pPr lvl="1"/>
            <a:r>
              <a:rPr lang="en-US" dirty="0"/>
              <a:t>Is this considered a hack?</a:t>
            </a:r>
          </a:p>
          <a:p>
            <a:r>
              <a:rPr lang="en-US" dirty="0"/>
              <a:t>Needs further exploration to find an n-qubit g-depth circuit with smallest n, g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A5E897-34FB-A6C3-16D6-1933A972A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31" y="4984640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4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1EE5-3762-B320-7C24-4BB713E2B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 Error Detection Space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8E8F-C7AA-6692-3E97-35F586E0F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well-known method to explore the space of QED codes for their logical operations</a:t>
            </a:r>
          </a:p>
          <a:p>
            <a:r>
              <a:rPr lang="en-US" dirty="0"/>
              <a:t>Works by D. Gottesman (</a:t>
            </a:r>
            <a:r>
              <a:rPr lang="en-US" dirty="0">
                <a:hlinkClick r:id="rId2"/>
              </a:rPr>
              <a:t>https://arxiv.org/abs/quant-ph/9705052</a:t>
            </a:r>
            <a:r>
              <a:rPr lang="en-US" dirty="0"/>
              <a:t>) and M. Wilde (</a:t>
            </a:r>
            <a:r>
              <a:rPr lang="en-US" dirty="0">
                <a:hlinkClick r:id="rId3"/>
              </a:rPr>
              <a:t>https://arxiv.org/abs/0903.5256</a:t>
            </a:r>
            <a:r>
              <a:rPr lang="en-US" dirty="0"/>
              <a:t>) have proposed techniques to search for logical operations</a:t>
            </a:r>
          </a:p>
          <a:p>
            <a:r>
              <a:rPr lang="en-US" dirty="0"/>
              <a:t>Plan is to translate these techniques to an algorithmic search</a:t>
            </a:r>
          </a:p>
          <a:p>
            <a:pPr lvl="1"/>
            <a:r>
              <a:rPr lang="en-US" dirty="0"/>
              <a:t>For the current constraints, a brute force search should also work</a:t>
            </a:r>
          </a:p>
          <a:p>
            <a:pPr lvl="1"/>
            <a:r>
              <a:rPr lang="en-US" dirty="0"/>
              <a:t>However, it needs to be verifiable</a:t>
            </a:r>
          </a:p>
          <a:p>
            <a:r>
              <a:rPr lang="en-US" dirty="0"/>
              <a:t>In the long term, this can translate to a direction of efficient code space exploration</a:t>
            </a:r>
          </a:p>
        </p:txBody>
      </p:sp>
    </p:spTree>
    <p:extLst>
      <p:ext uri="{BB962C8B-B14F-4D97-AF65-F5344CB8AC3E}">
        <p14:creationId xmlns:p14="http://schemas.microsoft.com/office/powerpoint/2010/main" val="1043831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AF2A2-28E0-94D3-F2C6-F519E215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3FCC-4D1A-5152-8329-8E6C909DC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69920"/>
            <a:ext cx="10515600" cy="3007042"/>
          </a:xfrm>
        </p:spPr>
        <p:txBody>
          <a:bodyPr/>
          <a:lstStyle/>
          <a:p>
            <a:r>
              <a:rPr lang="en-GB" dirty="0"/>
              <a:t>Is the output of the measurement on the first qubit always 50%?</a:t>
            </a:r>
          </a:p>
          <a:p>
            <a:r>
              <a:rPr lang="en-GB" dirty="0"/>
              <a:t>How sensitive is this measurement to errors on the other qubits?</a:t>
            </a:r>
          </a:p>
          <a:p>
            <a:pPr lvl="1"/>
            <a:r>
              <a:rPr lang="en-GB" dirty="0"/>
              <a:t>It should depend on the oracle</a:t>
            </a:r>
          </a:p>
          <a:p>
            <a:r>
              <a:rPr lang="en-GB" dirty="0"/>
              <a:t>If the measurement results are biased one way more than the other, would it be okay to only post-select the more probable branch?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475D9D-405F-292F-75D0-C75900725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1690688"/>
            <a:ext cx="7086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20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079D-DDA5-1DCA-62CF-0F70D616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EF4C4-4714-2FEC-4B53-8EBF1A4D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Questions Regarding the Shor Circuit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E6685-29A0-5A60-8EAD-1A88ADF7F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033" y="1574806"/>
            <a:ext cx="7821086" cy="18541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72C5A97-B42A-53B0-2FD2-419092E2F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609" y="4005073"/>
            <a:ext cx="7759934" cy="1846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962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06EF9-469E-AB07-F1E5-29591D272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4E329-ED4D-E732-BE24-233E3D06C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Noise in system during gate execution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Faulty preparation of resource states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Measurement errors</a:t>
            </a:r>
          </a:p>
        </p:txBody>
      </p:sp>
    </p:spTree>
    <p:extLst>
      <p:ext uri="{BB962C8B-B14F-4D97-AF65-F5344CB8AC3E}">
        <p14:creationId xmlns:p14="http://schemas.microsoft.com/office/powerpoint/2010/main" val="3013532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83510-83D6-9F20-E05B-2A1A2576E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88C0C-D0B5-8E83-951D-DBFB6AD7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5554A-F6DE-8EC7-FD62-AA0D4CF6C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“Errors” can arise due to: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Assumed measurement result of first qubit</a:t>
            </a:r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914400" lvl="1" indent="-457200">
              <a:buFont typeface="+mj-lt"/>
              <a:buAutoNum type="arabicPeriod"/>
            </a:pPr>
            <a:endParaRPr lang="en-GB" dirty="0"/>
          </a:p>
          <a:p>
            <a:pPr marL="0" indent="0">
              <a:buNone/>
            </a:pPr>
            <a:r>
              <a:rPr lang="en-GB" dirty="0"/>
              <a:t>Assuming a 50% success rate, this requires ~2</a:t>
            </a:r>
            <a:r>
              <a:rPr lang="en-GB" baseline="30000" dirty="0"/>
              <a:t>3</a:t>
            </a:r>
            <a:r>
              <a:rPr lang="en-GB" dirty="0"/>
              <a:t> = 8 shots.</a:t>
            </a:r>
          </a:p>
        </p:txBody>
      </p:sp>
    </p:spTree>
    <p:extLst>
      <p:ext uri="{BB962C8B-B14F-4D97-AF65-F5344CB8AC3E}">
        <p14:creationId xmlns:p14="http://schemas.microsoft.com/office/powerpoint/2010/main" val="1836389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3EF88-03DF-4D90-9E00-5DC5FC5C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F4BF5-69AB-858B-BD4C-62700A484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457200" lvl="1" indent="0">
                  <a:buNone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r>
                  <a:rPr lang="en-GB" dirty="0"/>
                  <a:t>Noise in system during gate execution</a:t>
                </a:r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2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depends on the choice of code and the device-level circuit implementation.</a:t>
                </a:r>
              </a:p>
              <a:p>
                <a:pPr marL="0" indent="0">
                  <a:buNone/>
                </a:pPr>
                <a:r>
                  <a:rPr lang="en-GB" dirty="0"/>
                  <a:t>For the case of a = 11, we have about 30 gates (requiring 3x3 T states).</a:t>
                </a:r>
              </a:p>
              <a:p>
                <a:pPr marL="0" indent="0">
                  <a:buNone/>
                </a:pPr>
                <a:r>
                  <a:rPr lang="en-GB" dirty="0"/>
                  <a:t>If we assume a uniform error rate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GB" dirty="0"/>
                  <a:t>, the number of shots is multiplied by ~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7390BE-AF30-070D-798E-9CCAED99C9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1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716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E49A9-EB89-7B3F-07B2-D9975AB3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0E978-E94F-A96A-7E78-891D8928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3"/>
                </a:pPr>
                <a:r>
                  <a:rPr lang="en-GB" dirty="0"/>
                  <a:t>Faulty preparation of resource states</a:t>
                </a:r>
              </a:p>
              <a:p>
                <a:pPr marL="914400" lvl="1" indent="-457200">
                  <a:buFont typeface="+mj-lt"/>
                  <a:buAutoNum type="arabicPeriod" startAt="3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some estimates from related work[1,2,3] that prepares Rz gates on a [[4,1,1,2]] code, this multiplies the shots by ~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15</m:t>
                            </m:r>
                          </m:den>
                        </m:f>
                      </m:den>
                    </m:f>
                  </m:oMath>
                </a14:m>
                <a:r>
                  <a:rPr lang="en-GB" dirty="0"/>
                  <a:t> for each resource state.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63F98B-20E0-5979-E1C7-9337695BF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BD7EFFB-1391-805C-9101-FD68AF1C759D}"/>
              </a:ext>
            </a:extLst>
          </p:cNvPr>
          <p:cNvSpPr txBox="1"/>
          <p:nvPr/>
        </p:nvSpPr>
        <p:spPr>
          <a:xfrm>
            <a:off x="838200" y="5850235"/>
            <a:ext cx="800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hlinkClick r:id="rId3"/>
              </a:rPr>
              <a:t>[1] </a:t>
            </a:r>
            <a:r>
              <a:rPr lang="en-GB" sz="1800" dirty="0">
                <a:hlinkClick r:id="rId3"/>
              </a:rPr>
              <a:t>https://doi.org/10.1103/PRXQuantum.5.010337</a:t>
            </a:r>
            <a:endParaRPr lang="en-GB" sz="1800" dirty="0"/>
          </a:p>
          <a:p>
            <a:r>
              <a:rPr lang="en-GB" dirty="0">
                <a:hlinkClick r:id="rId4"/>
              </a:rPr>
              <a:t>[2] https://doi.org/10.48550/arXiv.2303.17380</a:t>
            </a:r>
            <a:endParaRPr lang="en-GB" dirty="0"/>
          </a:p>
          <a:p>
            <a:r>
              <a:rPr lang="en-GB" dirty="0">
                <a:hlinkClick r:id="rId5"/>
              </a:rPr>
              <a:t>[3] https://doi.org/10.1145/3676641.3716018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8519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9F68C-9166-6419-5489-11CBD8B79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3F71B-3559-8942-C977-AD17E782F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Estimates on Number of Shots Needed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“Errors” can arise due to: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GB" dirty="0"/>
              </a:p>
              <a:p>
                <a:pPr marL="914400" lvl="1" indent="-457200">
                  <a:buFont typeface="+mj-lt"/>
                  <a:buAutoNum type="arabicPeriod" startAt="4"/>
                </a:pPr>
                <a:r>
                  <a:rPr lang="en-GB" dirty="0"/>
                  <a:t>Measurement errors</a:t>
                </a:r>
              </a:p>
              <a:p>
                <a:pPr marL="0" indent="0">
                  <a:buNone/>
                </a:pPr>
                <a:r>
                  <a:rPr lang="en-GB" dirty="0"/>
                  <a:t>For simplicity, assuming the same error rates as gate error rates, we only have a single measurement, this multiplies the shots by ~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F71E2-5AEC-9702-0949-AFEC0F317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0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516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590</Words>
  <Application>Microsoft Macintosh PowerPoint</Application>
  <PresentationFormat>Widescreen</PresentationFormat>
  <Paragraphs>68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Baker Group &lt;&gt; Infleqtion Exploration Direction and Potential Challenges</vt:lpstr>
      <vt:lpstr>Summary</vt:lpstr>
      <vt:lpstr>Circuit Generation</vt:lpstr>
      <vt:lpstr>Quantum Error Detection Space Exploration</vt:lpstr>
      <vt:lpstr>Some Questions Regarding the Shor Circuit</vt:lpstr>
      <vt:lpstr>Some Questions Regarding the Shor Circuit</vt:lpstr>
      <vt:lpstr>Estimates on Number of Shots Needed</vt:lpstr>
      <vt:lpstr>Estimates on Number of Shots Needed</vt:lpstr>
      <vt:lpstr>Estimates on Number of Shots Needed</vt:lpstr>
      <vt:lpstr>Estimates on Number of Shots Needed</vt:lpstr>
      <vt:lpstr>Estimates on Number of Shots Needed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Sayam Sethi</dc:creator>
  <cp:lastModifiedBy>Sayam Sethi</cp:lastModifiedBy>
  <cp:revision>7</cp:revision>
  <dcterms:created xsi:type="dcterms:W3CDTF">2025-03-14T01:34:50Z</dcterms:created>
  <dcterms:modified xsi:type="dcterms:W3CDTF">2025-03-28T20:02:50Z</dcterms:modified>
</cp:coreProperties>
</file>