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267" r:id="rId13"/>
    <p:sldId id="271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6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9"/>
    <p:restoredTop sz="94717"/>
  </p:normalViewPr>
  <p:slideViewPr>
    <p:cSldViewPr snapToGrid="0">
      <p:cViewPr varScale="1">
        <p:scale>
          <a:sx n="107" d="100"/>
          <a:sy n="107" d="100"/>
        </p:scale>
        <p:origin x="87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AFBB3-8DFF-EF2E-1C0E-C1B0E01A3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1789B-ADA5-78BC-EC05-CCFE01F50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67828-5F95-6603-02AD-47A16671F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CB6A2-3D6E-DC65-F404-02284E68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8BE5E-F899-DF7C-F71F-CF7B45CF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8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5D21-DB85-558A-7448-250628C1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5C63-C703-B023-C403-8DA34C171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36463-E4A5-FB11-93F0-8DF322C5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FDC29-A0D4-D324-D00B-A0EFB41F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AC528-FAFB-6D94-D973-1F47F13E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9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5D30-6816-C828-689F-570FEB9D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F452D-15A8-27C3-9B4B-34E465AA8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EFAC5-AB40-6DBB-E3B8-AFE69BCA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4D666-A526-D365-B6E7-41CAF0A4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E233B-6F56-969B-FFBD-8FC868C3B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60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3D7E-4D9F-F407-FAFD-AA095BF1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FD35D-E164-C392-423F-173BFDDDC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9EEDC-746B-5EB7-EF9B-3AF0EEACB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50855-4EF7-DFB6-52A3-673059B5E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08023-C1FD-7FDC-2EF3-96A8FA99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2B637-3E2A-B1C4-F8ED-5886A3551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7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F2E0-921C-2408-AD59-7DA94021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FCD82-86AE-3DD1-27A6-BD6728DDD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B82A8-61B1-45A1-C987-6A74A0FC5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C1FFF-AD7D-25B8-A5A5-E28FDBFC1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1A68BE-7B5B-03A8-390B-11E49D3B8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70216A-F38E-9602-EE7D-5B172D5C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50A52-D2DC-0A3D-F420-D718C1EB0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A91F71-5B0F-EB13-B1A2-24511C07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1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BAA92-E45B-5EF5-9FFF-20084B89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F4B57-4421-62FD-3B5A-43188640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219673-826A-3049-B964-929BFA7D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6B5C4-F249-199A-35C0-6380DD07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25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51946-5154-0D6D-4769-633061A1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5D113-1900-85CA-29FA-31E725BFA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05F45-DBD0-CF2B-1C9A-A477C98F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1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EE1F-59AC-EC88-DDF1-B70F3FFEF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4CC88-ABF9-AC3E-B8D6-31617E8E0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4AB6A-03B3-B186-5B84-F5F90F145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E16F2-68AF-5F04-10DA-DAB6738B4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A7D8A-D556-D441-F59E-6DC4175A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C2557-EA01-D0CA-CFA7-F35950E5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3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C65EC-09BC-39B5-57E3-5EB82E9EF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29015-E40A-C94A-C490-16EC31665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4E73A-8116-B1E9-F130-B4968B8F5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13C5C-AFD2-A4F8-E54F-6395355D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0963B-5225-7E61-88BD-E923F5F4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31742-426D-7BE1-59F8-31E625D9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45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EE97-75E8-A072-2A0A-71AED0836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02CFF-7B0B-0843-F523-51B5FEAC6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0527A-97D6-39F1-230F-BEFAD94E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E3C6E-121B-C1EC-F57E-9BB79CBA7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CAD7F-C4E3-AAB4-8F6C-A0151768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74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34C23-12D2-9ED6-4678-EE0CB24E3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7C8BF-4412-68ED-D9E6-98EE688DA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9B85E-A5F2-A622-3808-6CE31468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3A143-C849-9B36-9F48-14FA7C2D2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DEB47-966B-F1D1-8511-1CBE15A5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3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B9AB5-416C-801B-92AC-D6F0CEA2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0ABD2-C954-609C-D379-1217B509D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5C089-5F58-4BCF-2AF2-26E0719B0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604FD-B602-FC49-9746-E8C71C959787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05B9B-BC3A-F505-E2B4-DB804D66E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70689-580B-7D5D-AB3C-812FD3718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28D65-6709-AC44-BD82-C49EDBEFD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2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xiv.org/abs/1507.0885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0903.5256" TargetMode="External"/><Relationship Id="rId2" Type="http://schemas.openxmlformats.org/officeDocument/2006/relationships/hyperlink" Target="https://arxiv.org/abs/quant-ph/970505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3/PRXQuantum.5.010337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45/3676641.3716018" TargetMode="External"/><Relationship Id="rId4" Type="http://schemas.openxmlformats.org/officeDocument/2006/relationships/hyperlink" Target="https://doi.org/10.48550/arXiv.2303.17380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C289-DDE4-012D-DBC4-069E6A0F29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Baker Group &lt;&gt; </a:t>
            </a:r>
            <a:r>
              <a:rPr lang="en-US" dirty="0" err="1"/>
              <a:t>Infleqtion</a:t>
            </a:r>
            <a:br>
              <a:rPr lang="en-US" dirty="0"/>
            </a:br>
            <a:r>
              <a:rPr lang="en-US" dirty="0"/>
              <a:t>Exploration Direction and Potential 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B5E73-9E71-FF23-7DEF-67CC5F60AC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Sayam Sethi, Maxwell Poster, </a:t>
            </a:r>
            <a:r>
              <a:rPr lang="en-US"/>
              <a:t>Aditi Awasthi</a:t>
            </a:r>
            <a:endParaRPr lang="en-US" dirty="0"/>
          </a:p>
          <a:p>
            <a:r>
              <a:rPr lang="en-US" dirty="0"/>
              <a:t>Jonathan Baker</a:t>
            </a:r>
          </a:p>
        </p:txBody>
      </p:sp>
    </p:spTree>
    <p:extLst>
      <p:ext uri="{BB962C8B-B14F-4D97-AF65-F5344CB8AC3E}">
        <p14:creationId xmlns:p14="http://schemas.microsoft.com/office/powerpoint/2010/main" val="353198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8755-63DE-5727-6E2C-3CBE93869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7BB51-380A-679B-1875-23576BEFC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Generate the circuit that we want to run without being “hacky”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Ideally the circuit should not optimize anything across the oracle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No mid-circuit measurements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Explore different Quantum Error Detection (QED) codes and compute efficient implementations of logical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Once we have 1 and 2 working, perform mapping and compilation in the joint search space</a:t>
            </a:r>
          </a:p>
        </p:txBody>
      </p:sp>
    </p:spTree>
    <p:extLst>
      <p:ext uri="{BB962C8B-B14F-4D97-AF65-F5344CB8AC3E}">
        <p14:creationId xmlns:p14="http://schemas.microsoft.com/office/powerpoint/2010/main" val="217501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ED9F-5E91-F596-29A8-AAE8E094F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7913E-A3A6-C347-207A-FA14C8EA6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The circuit from </a:t>
            </a:r>
            <a:r>
              <a:rPr lang="en-US" dirty="0">
                <a:hlinkClick r:id="rId2"/>
              </a:rPr>
              <a:t>[1]</a:t>
            </a:r>
            <a:r>
              <a:rPr lang="en-US" dirty="0"/>
              <a:t> has conditional gates on the control</a:t>
            </a:r>
          </a:p>
          <a:p>
            <a:r>
              <a:rPr lang="en-US" dirty="0"/>
              <a:t>Not (currently) supported on the NA architecture</a:t>
            </a:r>
          </a:p>
          <a:p>
            <a:r>
              <a:rPr lang="en-US" dirty="0"/>
              <a:t>One </a:t>
            </a:r>
            <a:r>
              <a:rPr lang="en-US" i="1" dirty="0"/>
              <a:t>trick</a:t>
            </a:r>
            <a:r>
              <a:rPr lang="en-US" dirty="0"/>
              <a:t> might be post-select only one branch of the measurement</a:t>
            </a:r>
          </a:p>
          <a:p>
            <a:pPr lvl="1"/>
            <a:r>
              <a:rPr lang="en-US" dirty="0"/>
              <a:t>But this still needs more qubits</a:t>
            </a:r>
          </a:p>
          <a:p>
            <a:pPr lvl="1"/>
            <a:r>
              <a:rPr lang="en-US" dirty="0"/>
              <a:t>Is this considered a hack?</a:t>
            </a:r>
          </a:p>
          <a:p>
            <a:r>
              <a:rPr lang="en-US" dirty="0"/>
              <a:t>Needs further exploration to find an n-qubit g-depth circuit with smallest n, g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A5E897-34FB-A6C3-16D6-1933A972A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831" y="4984640"/>
            <a:ext cx="7086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3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1EE5-3762-B320-7C24-4BB713E2B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Error Detection Space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F8E8F-C7AA-6692-3E97-35F586E0F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no well-known method to explore the space of QED codes for their logical operations</a:t>
            </a:r>
          </a:p>
          <a:p>
            <a:r>
              <a:rPr lang="en-US" dirty="0"/>
              <a:t>Works by D. Gottesman (</a:t>
            </a:r>
            <a:r>
              <a:rPr lang="en-US" dirty="0">
                <a:hlinkClick r:id="rId2"/>
              </a:rPr>
              <a:t>https://arxiv.org/abs/quant-ph/9705052</a:t>
            </a:r>
            <a:r>
              <a:rPr lang="en-US" dirty="0"/>
              <a:t>) and M. Wilde (</a:t>
            </a:r>
            <a:r>
              <a:rPr lang="en-US" dirty="0">
                <a:hlinkClick r:id="rId3"/>
              </a:rPr>
              <a:t>https://arxiv.org/abs/0903.5256</a:t>
            </a:r>
            <a:r>
              <a:rPr lang="en-US" dirty="0"/>
              <a:t>) have proposed techniques to search for logical operations</a:t>
            </a:r>
          </a:p>
          <a:p>
            <a:r>
              <a:rPr lang="en-US" dirty="0"/>
              <a:t>Plan is to translate these techniques to an algorithmic search</a:t>
            </a:r>
          </a:p>
          <a:p>
            <a:pPr lvl="1"/>
            <a:r>
              <a:rPr lang="en-US" dirty="0"/>
              <a:t>For the current constraints, a brute force search should also work</a:t>
            </a:r>
          </a:p>
          <a:p>
            <a:pPr lvl="1"/>
            <a:r>
              <a:rPr lang="en-US" dirty="0"/>
              <a:t>However, it needs to be verifiable</a:t>
            </a:r>
          </a:p>
          <a:p>
            <a:r>
              <a:rPr lang="en-US" dirty="0"/>
              <a:t>In the long term, this can translate to a direction of efficient code space exploration</a:t>
            </a:r>
          </a:p>
        </p:txBody>
      </p:sp>
    </p:spTree>
    <p:extLst>
      <p:ext uri="{BB962C8B-B14F-4D97-AF65-F5344CB8AC3E}">
        <p14:creationId xmlns:p14="http://schemas.microsoft.com/office/powerpoint/2010/main" val="1043831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F2A2-28E0-94D3-F2C6-F519E215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Questions Regarding the Shor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3FCC-4D1A-5152-8329-8E6C909DC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69920"/>
            <a:ext cx="10515600" cy="3007042"/>
          </a:xfrm>
        </p:spPr>
        <p:txBody>
          <a:bodyPr/>
          <a:lstStyle/>
          <a:p>
            <a:r>
              <a:rPr lang="en-GB" dirty="0"/>
              <a:t>Is the output of the measurement on the first qubit always 50%?</a:t>
            </a:r>
          </a:p>
          <a:p>
            <a:r>
              <a:rPr lang="en-GB" dirty="0"/>
              <a:t>How sensitive is this measurement to errors on the other qubits?</a:t>
            </a:r>
          </a:p>
          <a:p>
            <a:pPr lvl="1"/>
            <a:r>
              <a:rPr lang="en-GB" dirty="0"/>
              <a:t>It should depend on the oracle</a:t>
            </a:r>
          </a:p>
          <a:p>
            <a:r>
              <a:rPr lang="en-GB" dirty="0"/>
              <a:t>If the measurement results are biased one way more than the other, would it be okay to only post-select the more probable branch?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475D9D-405F-292F-75D0-C75900725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690688"/>
            <a:ext cx="7086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02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079D-DDA5-1DCA-62CF-0F70D616E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EF4C4-4714-2FEC-4B53-8EBF1A4D5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Questions Regarding the Shor Circuit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E6685-29A0-5A60-8EAD-1A88ADF7F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033" y="1574806"/>
            <a:ext cx="7821086" cy="18541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2C5A97-B42A-53B0-2FD2-419092E2F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609" y="4005073"/>
            <a:ext cx="7759934" cy="184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962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06EF9-469E-AB07-F1E5-29591D272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Estimates on Number of Shots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4E329-ED4D-E732-BE24-233E3D06C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“Errors” can arise due to: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Assumed measurement result of first qubit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Noise in system during gate execution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Faulty preparation of resource states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Measurement errors</a:t>
            </a:r>
          </a:p>
        </p:txBody>
      </p:sp>
    </p:spTree>
    <p:extLst>
      <p:ext uri="{BB962C8B-B14F-4D97-AF65-F5344CB8AC3E}">
        <p14:creationId xmlns:p14="http://schemas.microsoft.com/office/powerpoint/2010/main" val="301353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3510-83D6-9F20-E05B-2A1A2576E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8C0C-D0B5-8E83-951D-DBFB6AD7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Estimates on Number of Shots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5554A-F6DE-8EC7-FD62-AA0D4CF6C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“Errors” can arise due to: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Assumed measurement result of first qubit</a:t>
            </a:r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dirty="0"/>
              <a:t>Assuming a 50% success rate, this requires ~2</a:t>
            </a:r>
            <a:r>
              <a:rPr lang="en-GB" baseline="30000" dirty="0"/>
              <a:t>3</a:t>
            </a:r>
            <a:r>
              <a:rPr lang="en-GB" dirty="0"/>
              <a:t> = 8 shots.</a:t>
            </a:r>
          </a:p>
        </p:txBody>
      </p:sp>
    </p:spTree>
    <p:extLst>
      <p:ext uri="{BB962C8B-B14F-4D97-AF65-F5344CB8AC3E}">
        <p14:creationId xmlns:p14="http://schemas.microsoft.com/office/powerpoint/2010/main" val="1836389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EF88-03DF-4D90-9E00-5DC5FC5C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4BF5-69AB-858B-BD4C-62700A48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Estimates on Number of Shots Needed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7390BE-AF30-070D-798E-9CCAED99C9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“Errors” can arise due to:</a:t>
                </a:r>
              </a:p>
              <a:p>
                <a:pPr marL="457200" lvl="1" indent="0">
                  <a:buNone/>
                </a:pPr>
                <a:endParaRPr lang="en-GB" dirty="0"/>
              </a:p>
              <a:p>
                <a:pPr marL="914400" lvl="1" indent="-457200">
                  <a:buFont typeface="+mj-lt"/>
                  <a:buAutoNum type="arabicPeriod" startAt="2"/>
                </a:pPr>
                <a:r>
                  <a:rPr lang="en-GB" dirty="0"/>
                  <a:t>Noise in system during gate execution</a:t>
                </a:r>
              </a:p>
              <a:p>
                <a:pPr marL="914400" lvl="1" indent="-457200">
                  <a:buFont typeface="+mj-lt"/>
                  <a:buAutoNum type="arabicPeriod" startAt="2"/>
                </a:pPr>
                <a:endParaRPr lang="en-GB" dirty="0"/>
              </a:p>
              <a:p>
                <a:pPr marL="914400" lvl="1" indent="-457200">
                  <a:buFont typeface="+mj-lt"/>
                  <a:buAutoNum type="arabicPeriod" startAt="2"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depends on the choice of code and the device-level circuit implementation.</a:t>
                </a:r>
              </a:p>
              <a:p>
                <a:pPr marL="0" indent="0">
                  <a:buNone/>
                </a:pPr>
                <a:r>
                  <a:rPr lang="en-GB" dirty="0"/>
                  <a:t>For the case of a = 11, we have about 30 gates (requiring 3x3 T states).</a:t>
                </a:r>
              </a:p>
              <a:p>
                <a:pPr marL="0" indent="0">
                  <a:buNone/>
                </a:pPr>
                <a:r>
                  <a:rPr lang="en-GB" dirty="0"/>
                  <a:t>If we assume a uniform error rate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GB" dirty="0"/>
                  <a:t>, the number of shots is multiplied by 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7390BE-AF30-070D-798E-9CCAED99C9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b="-1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716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E49A9-EB89-7B3F-07B2-D9975AB39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E978-E94F-A96A-7E78-891D89280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Estimates on Number of Shots Needed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63F98B-20E0-5979-E1C7-9337695BFA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“Errors” can arise due to: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GB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GB" dirty="0"/>
              </a:p>
              <a:p>
                <a:pPr marL="914400" lvl="1" indent="-457200">
                  <a:buFont typeface="+mj-lt"/>
                  <a:buAutoNum type="arabicPeriod" startAt="3"/>
                </a:pPr>
                <a:r>
                  <a:rPr lang="en-GB" dirty="0"/>
                  <a:t>Faulty preparation of resource states</a:t>
                </a:r>
              </a:p>
              <a:p>
                <a:pPr marL="914400" lvl="1" indent="-457200">
                  <a:buFont typeface="+mj-lt"/>
                  <a:buAutoNum type="arabicPeriod" startAt="3"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Using some estimates from related work[1,2,3] that prepares Rz gates on a [[4,1,1,2]] code, this multiplies the shots by ~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den>
                    </m:f>
                  </m:oMath>
                </a14:m>
                <a:r>
                  <a:rPr lang="en-GB" dirty="0"/>
                  <a:t> for each resource state.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63F98B-20E0-5979-E1C7-9337695BF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BD7EFFB-1391-805C-9101-FD68AF1C759D}"/>
              </a:ext>
            </a:extLst>
          </p:cNvPr>
          <p:cNvSpPr txBox="1"/>
          <p:nvPr/>
        </p:nvSpPr>
        <p:spPr>
          <a:xfrm>
            <a:off x="838200" y="5850235"/>
            <a:ext cx="8004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hlinkClick r:id="rId3"/>
              </a:rPr>
              <a:t>[1] https://doi.org/10.1103/PRXQuantum.5.010337</a:t>
            </a:r>
            <a:endParaRPr lang="en-GB" sz="1800" dirty="0"/>
          </a:p>
          <a:p>
            <a:r>
              <a:rPr lang="en-GB" dirty="0">
                <a:hlinkClick r:id="rId4"/>
              </a:rPr>
              <a:t>[2] https://doi.org/10.48550/arXiv.2303.17380</a:t>
            </a:r>
            <a:endParaRPr lang="en-GB" dirty="0"/>
          </a:p>
          <a:p>
            <a:r>
              <a:rPr lang="en-GB" dirty="0">
                <a:hlinkClick r:id="rId5"/>
              </a:rPr>
              <a:t>[3] https://doi.org/10.1145/3676641.3716018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519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9F68C-9166-6419-5489-11CBD8B79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F71B-3559-8942-C977-AD17E782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Estimates on Number of Shots Needed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CF71E2-5AEC-9702-0949-AFEC0F3173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“Errors” can arise due to: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GB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GB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GB" dirty="0"/>
              </a:p>
              <a:p>
                <a:pPr marL="914400" lvl="1" indent="-457200">
                  <a:buFont typeface="+mj-lt"/>
                  <a:buAutoNum type="arabicPeriod" startAt="4"/>
                </a:pPr>
                <a:r>
                  <a:rPr lang="en-GB" dirty="0"/>
                  <a:t>Measurement errors</a:t>
                </a:r>
              </a:p>
              <a:p>
                <a:pPr marL="0" indent="0">
                  <a:buNone/>
                </a:pPr>
                <a:r>
                  <a:rPr lang="en-GB" dirty="0"/>
                  <a:t>For simplicity, assuming the same error rates as gate error rates, we only have a single measurement, this multiplies the shots by ~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CF71E2-5AEC-9702-0949-AFEC0F3173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51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BB1A6-2C0B-91E9-9B37-2AB9634C1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5AF95B-9E78-6BDB-528F-6563A96636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It is possible to find the logical Pauli operators, albeit it takes exponential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Made a program to find the logical Paulis given the stabilizers as input</a:t>
                </a:r>
              </a:p>
              <a:p>
                <a:endParaRPr lang="en-GB" dirty="0"/>
              </a:p>
              <a:p>
                <a:r>
                  <a:rPr lang="en-GB" dirty="0"/>
                  <a:t>However, it is much harder to: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/>
                  <a:t>Find the logical </a:t>
                </a:r>
                <a:r>
                  <a:rPr lang="en-GB" dirty="0" err="1"/>
                  <a:t>Cliffords</a:t>
                </a:r>
                <a:endParaRPr lang="en-GB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/>
                  <a:t>Check if the </a:t>
                </a:r>
                <a:r>
                  <a:rPr lang="en-GB" dirty="0" err="1"/>
                  <a:t>Cliffords</a:t>
                </a:r>
                <a:r>
                  <a:rPr lang="en-GB" dirty="0"/>
                  <a:t> found in step 1 are Fault-Tolerant</a:t>
                </a:r>
              </a:p>
              <a:p>
                <a:endParaRPr lang="en-GB" dirty="0"/>
              </a:p>
              <a:p>
                <a:r>
                  <a:rPr lang="en-GB" dirty="0"/>
                  <a:t>Step 1 requires a search over all unitaries of size n in the general case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5AF95B-9E78-6BDB-528F-6563A96636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770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EBF9A-7CE7-351E-BECF-5E24A4732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Operators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CCAB0D-8E27-540C-831A-4B88E1ABF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031" y="3429000"/>
            <a:ext cx="9321938" cy="12496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9EF610-B5C0-066E-9B48-FE6D39F20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392" y="1690688"/>
            <a:ext cx="9459216" cy="11890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6DCCE5-B47D-17BE-FE8F-1537A7D28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5347157"/>
            <a:ext cx="7772400" cy="83862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66973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7BB0-EAF3-BA60-3678-C2F45C30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0A4F4-3788-4C56-4ABF-F846593AF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Alternatively, since finding the Paulis is easy, we can design surgery-like techniques + state injection for arbitrary gates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However, this requires either: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Intermediate measurements which is not supported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Exponential blowup in post-selection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04B8AD-F20C-5512-EC39-2F29198A0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675128"/>
            <a:ext cx="33528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73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565F-8F3C-A909-7459-73673BA3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can we do instead?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B5148-E552-5F79-5F05-BDA735694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trying to find logical </a:t>
            </a:r>
            <a:r>
              <a:rPr lang="en-GB" dirty="0" err="1"/>
              <a:t>Cliffords</a:t>
            </a:r>
            <a:r>
              <a:rPr lang="en-GB" dirty="0"/>
              <a:t>, we can restrict ourselves to only Clifford operations</a:t>
            </a:r>
          </a:p>
          <a:p>
            <a:endParaRPr lang="en-GB" dirty="0"/>
          </a:p>
          <a:p>
            <a:r>
              <a:rPr lang="en-GB" dirty="0"/>
              <a:t>For now, we can ignore FT and just find logical operations</a:t>
            </a:r>
          </a:p>
          <a:p>
            <a:endParaRPr lang="en-GB" dirty="0"/>
          </a:p>
          <a:p>
            <a:r>
              <a:rPr lang="en-GB" dirty="0"/>
              <a:t>This is still exponential, but the search space will be discrete so it should work for smaller [[n, k, d]]</a:t>
            </a:r>
          </a:p>
        </p:txBody>
      </p:sp>
    </p:spTree>
    <p:extLst>
      <p:ext uri="{BB962C8B-B14F-4D97-AF65-F5344CB8AC3E}">
        <p14:creationId xmlns:p14="http://schemas.microsoft.com/office/powerpoint/2010/main" val="2365756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7B86-8B52-35ED-64AD-24BF3FB1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 and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2D4D4-86CE-3321-0761-ABCEEF2CE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Generalized Shor’s for any n:</a:t>
            </a:r>
          </a:p>
          <a:p>
            <a:pPr lvl="1"/>
            <a:r>
              <a:rPr lang="en-GB" dirty="0"/>
              <a:t>How does it work?</a:t>
            </a:r>
          </a:p>
          <a:p>
            <a:pPr lvl="1"/>
            <a:r>
              <a:rPr lang="en-GB" dirty="0"/>
              <a:t>Examples?</a:t>
            </a:r>
          </a:p>
          <a:p>
            <a:endParaRPr lang="en-GB" dirty="0"/>
          </a:p>
          <a:p>
            <a:r>
              <a:rPr lang="en-GB" dirty="0"/>
              <a:t>Error model?</a:t>
            </a:r>
          </a:p>
          <a:p>
            <a:pPr lvl="1"/>
            <a:r>
              <a:rPr lang="en-GB" dirty="0"/>
              <a:t>If we can simulate the error properties, should be possible to guide our search to minimize errors despite being non-FT</a:t>
            </a:r>
          </a:p>
          <a:p>
            <a:pPr lvl="1"/>
            <a:r>
              <a:rPr lang="en-GB" dirty="0"/>
              <a:t>Is it enough to minimize 2-qubit gates?</a:t>
            </a:r>
          </a:p>
        </p:txBody>
      </p:sp>
    </p:spTree>
    <p:extLst>
      <p:ext uri="{BB962C8B-B14F-4D97-AF65-F5344CB8AC3E}">
        <p14:creationId xmlns:p14="http://schemas.microsoft.com/office/powerpoint/2010/main" val="2820038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E67F-2AAA-F67E-7163-A6622B05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0651"/>
          </a:xfrm>
        </p:spPr>
        <p:txBody>
          <a:bodyPr/>
          <a:lstStyle/>
          <a:p>
            <a:r>
              <a:rPr lang="en-GB" dirty="0"/>
              <a:t>Shor’s Algorithm Circuit for N = 15, a =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CF801-3C6F-BFCF-12EB-D10D5E9B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672"/>
            <a:ext cx="10515600" cy="5291327"/>
          </a:xfrm>
        </p:spPr>
        <p:txBody>
          <a:bodyPr>
            <a:normAutofit/>
          </a:bodyPr>
          <a:lstStyle/>
          <a:p>
            <a:r>
              <a:rPr lang="en-GB" dirty="0"/>
              <a:t>Circuit is slightly optimized by ignoring the first step of the oracle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17F04-727F-15E5-E05D-3059348D5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2510535"/>
            <a:ext cx="6286500" cy="340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BFC87C-4A94-688B-C2A1-DEB15740C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700" y="2510535"/>
            <a:ext cx="4167467" cy="326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92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0F42-D94E-4330-7E74-95CFE13A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Shor’s Algorithm Circuit for N = 15, a =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38C6E-40D4-2D7A-4BD0-C11BC7797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Compiling this to the “</a:t>
            </a:r>
            <a:r>
              <a:rPr lang="en-GB" dirty="0" err="1"/>
              <a:t>CZTargetGateset</a:t>
            </a:r>
            <a:r>
              <a:rPr lang="en-GB" dirty="0"/>
              <a:t>” (</a:t>
            </a:r>
            <a:r>
              <a:rPr lang="en-GB" dirty="0" err="1"/>
              <a:t>cirq</a:t>
            </a:r>
            <a:r>
              <a:rPr lang="en-GB" dirty="0"/>
              <a:t>) gives a depth of 59.</a:t>
            </a:r>
          </a:p>
          <a:p>
            <a:endParaRPr lang="en-GB" dirty="0"/>
          </a:p>
          <a:p>
            <a:r>
              <a:rPr lang="en-GB" dirty="0"/>
              <a:t>This </a:t>
            </a:r>
            <a:r>
              <a:rPr lang="en-GB" dirty="0" err="1"/>
              <a:t>gateset</a:t>
            </a:r>
            <a:r>
              <a:rPr lang="en-GB" dirty="0"/>
              <a:t> has GR gates, CZ gates and </a:t>
            </a:r>
            <a:r>
              <a:rPr lang="en-GB" dirty="0" err="1"/>
              <a:t>PhaseXZ</a:t>
            </a:r>
            <a:r>
              <a:rPr lang="en-GB" dirty="0"/>
              <a:t> gates</a:t>
            </a:r>
          </a:p>
          <a:p>
            <a:pPr lvl="1"/>
            <a:r>
              <a:rPr lang="en-GB" dirty="0"/>
              <a:t>This is still more generic than what is supported</a:t>
            </a:r>
          </a:p>
          <a:p>
            <a:endParaRPr lang="en-GB" dirty="0"/>
          </a:p>
          <a:p>
            <a:r>
              <a:rPr lang="en-GB" dirty="0"/>
              <a:t>If we disallow parallel gate execution, the depth goes up to ~90.</a:t>
            </a:r>
          </a:p>
        </p:txBody>
      </p:sp>
    </p:spTree>
    <p:extLst>
      <p:ext uri="{BB962C8B-B14F-4D97-AF65-F5344CB8AC3E}">
        <p14:creationId xmlns:p14="http://schemas.microsoft.com/office/powerpoint/2010/main" val="3116380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76E4-E1B4-E9E5-5F6E-5E6F1C5F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Shor’s Algorithm Circuit for N = 15, a =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FB92F-91F0-BAF2-66AD-95C9B67E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Since we have 6 qubits in the circuit, we first start with the [[8, 6, 2]] code to analyse the depth/operations needed</a:t>
            </a:r>
          </a:p>
          <a:p>
            <a:r>
              <a:rPr lang="en-GB" dirty="0"/>
              <a:t>The </a:t>
            </a:r>
            <a:r>
              <a:rPr lang="en-GB" dirty="0" err="1"/>
              <a:t>codeqraft</a:t>
            </a:r>
            <a:r>
              <a:rPr lang="en-GB" dirty="0"/>
              <a:t> compiler required making an API call and the compiler wasn’t open-source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BA3CF-F7DA-587F-0D5E-F4C9FCE3B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3673602"/>
            <a:ext cx="61722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40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0116-D45D-D99C-0BC1-F7819BD1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Compilation to [[8, 6, 2]]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3ED41-127A-CA8C-CDAC-DA46D4C5A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Ignoring FT and assuming all-to-all connectivity, we get a circuit with 686 gates (on compilation with </a:t>
            </a:r>
            <a:r>
              <a:rPr lang="en-GB" dirty="0" err="1"/>
              <a:t>superstaq</a:t>
            </a:r>
            <a:r>
              <a:rPr lang="en-GB" dirty="0"/>
              <a:t>).</a:t>
            </a:r>
          </a:p>
          <a:p>
            <a:endParaRPr lang="en-GB" dirty="0"/>
          </a:p>
          <a:p>
            <a:r>
              <a:rPr lang="en-GB" dirty="0"/>
              <a:t>Out of this, 219 are CZ, 254 are GR and 213 are Rz gates.</a:t>
            </a:r>
          </a:p>
        </p:txBody>
      </p:sp>
    </p:spTree>
    <p:extLst>
      <p:ext uri="{BB962C8B-B14F-4D97-AF65-F5344CB8AC3E}">
        <p14:creationId xmlns:p14="http://schemas.microsoft.com/office/powerpoint/2010/main" val="2114031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F4C2-CE3D-E9AC-878B-FD32740A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Caveats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B0A9-31F1-106E-6C00-F0E67D3F3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All-to-all connectivity assumption</a:t>
            </a:r>
          </a:p>
          <a:p>
            <a:endParaRPr lang="en-GB" dirty="0"/>
          </a:p>
          <a:p>
            <a:r>
              <a:rPr lang="en-GB" dirty="0"/>
              <a:t>Sub-optimal compilation pipeline (</a:t>
            </a:r>
            <a:r>
              <a:rPr lang="en-GB" dirty="0" err="1"/>
              <a:t>superstaq</a:t>
            </a:r>
            <a:r>
              <a:rPr lang="en-GB" dirty="0"/>
              <a:t> &lt;-&gt; </a:t>
            </a:r>
            <a:r>
              <a:rPr lang="en-GB" dirty="0" err="1"/>
              <a:t>cirq</a:t>
            </a:r>
            <a:r>
              <a:rPr lang="en-GB" dirty="0"/>
              <a:t> &lt;-&gt; qiskit)</a:t>
            </a:r>
          </a:p>
          <a:p>
            <a:endParaRPr lang="en-GB" dirty="0"/>
          </a:p>
          <a:p>
            <a:r>
              <a:rPr lang="en-GB" dirty="0"/>
              <a:t>Would it be possible to get access to the non-free trial of </a:t>
            </a:r>
            <a:r>
              <a:rPr lang="en-GB" dirty="0" err="1"/>
              <a:t>superstaq</a:t>
            </a:r>
            <a:r>
              <a:rPr lang="en-GB" dirty="0"/>
              <a:t>?</a:t>
            </a:r>
          </a:p>
          <a:p>
            <a:endParaRPr lang="en-GB" dirty="0"/>
          </a:p>
          <a:p>
            <a:r>
              <a:rPr lang="en-GB" dirty="0"/>
              <a:t>Suggestions for optimal compilation pipeline are welcome</a:t>
            </a:r>
          </a:p>
        </p:txBody>
      </p:sp>
    </p:spTree>
    <p:extLst>
      <p:ext uri="{BB962C8B-B14F-4D97-AF65-F5344CB8AC3E}">
        <p14:creationId xmlns:p14="http://schemas.microsoft.com/office/powerpoint/2010/main" val="3414261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DAAA-30D4-9EDE-86C6-0E223806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96DD-B522-7C62-C3B7-8A29B6F78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Impose connectivity constraints</a:t>
            </a:r>
          </a:p>
          <a:p>
            <a:endParaRPr lang="en-GB" dirty="0"/>
          </a:p>
          <a:p>
            <a:r>
              <a:rPr lang="en-GB" dirty="0"/>
              <a:t>Look at the </a:t>
            </a:r>
            <a:r>
              <a:rPr lang="en-GB" dirty="0" err="1"/>
              <a:t>tradeoff</a:t>
            </a:r>
            <a:r>
              <a:rPr lang="en-GB" dirty="0"/>
              <a:t> on converting</a:t>
            </a:r>
          </a:p>
          <a:p>
            <a:pPr marL="0" indent="0">
              <a:buNone/>
            </a:pPr>
            <a:r>
              <a:rPr lang="en-GB" dirty="0"/>
              <a:t>	[[8, 6, 2]] 	-&gt;	2 x [[6, 4, 2]]	-&gt;	3 x [[4, 2, 2]]</a:t>
            </a:r>
          </a:p>
        </p:txBody>
      </p:sp>
    </p:spTree>
    <p:extLst>
      <p:ext uri="{BB962C8B-B14F-4D97-AF65-F5344CB8AC3E}">
        <p14:creationId xmlns:p14="http://schemas.microsoft.com/office/powerpoint/2010/main" val="335407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1D2F2-CE48-3694-0329-F2AE3175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Error Rate Requirements for Iceberg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F5FD1-E280-E970-04A2-6C9F9A643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Executed circuit C followed by C^\</a:t>
            </a:r>
            <a:r>
              <a:rPr lang="en-GB" dirty="0" err="1"/>
              <a:t>dag</a:t>
            </a:r>
            <a:r>
              <a:rPr lang="en-GB" dirty="0"/>
              <a:t> (with optimizations off)</a:t>
            </a:r>
          </a:p>
          <a:p>
            <a:r>
              <a:rPr lang="en-GB" dirty="0"/>
              <a:t>The output should be the all-0 state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21FE1993-2B23-01D1-B610-DB90D8908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956089"/>
            <a:ext cx="7772400" cy="378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88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3304D-4204-E20F-BD03-5F51CAF53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2252-F476-9106-C9DE-AAAA7E13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Error Rate Requirements for Iceberg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8F788-755E-92F6-D1E5-DAF09B438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a Pauli noise model with equal probabilities of X, Z and Y.</a:t>
            </a:r>
          </a:p>
          <a:p>
            <a:r>
              <a:rPr lang="en-GB" dirty="0"/>
              <a:t>Qubit initialization error probability (reset) = 3%</a:t>
            </a:r>
          </a:p>
          <a:p>
            <a:r>
              <a:rPr lang="en-GB" dirty="0"/>
              <a:t>Qubit readout error probability (measure) = 3%</a:t>
            </a:r>
          </a:p>
          <a:p>
            <a:r>
              <a:rPr lang="en-GB" dirty="0"/>
              <a:t>1-qubit gate error probability = 0.1%</a:t>
            </a:r>
          </a:p>
          <a:p>
            <a:r>
              <a:rPr lang="en-GB" dirty="0"/>
              <a:t>2-qubit gate error probability = 1%</a:t>
            </a:r>
          </a:p>
          <a:p>
            <a:r>
              <a:rPr lang="en-GB" dirty="0"/>
              <a:t>All error rates are multiplied with “alpha” to see how iceberg compares against physical compilation</a:t>
            </a:r>
          </a:p>
        </p:txBody>
      </p:sp>
    </p:spTree>
    <p:extLst>
      <p:ext uri="{BB962C8B-B14F-4D97-AF65-F5344CB8AC3E}">
        <p14:creationId xmlns:p14="http://schemas.microsoft.com/office/powerpoint/2010/main" val="749766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84A13-C540-F3AC-B569-F5F67E7EF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26C9-DC72-9F77-4D5E-D11B2009D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Error Rate Requirements for Iceberg</a:t>
            </a:r>
          </a:p>
        </p:txBody>
      </p:sp>
      <p:pic>
        <p:nvPicPr>
          <p:cNvPr id="7" name="Content Placeholder 6" descr="A graph of different shapes and colors&#10;&#10;AI-generated content may be incorrect.">
            <a:extLst>
              <a:ext uri="{FF2B5EF4-FFF2-40B4-BE49-F238E27FC236}">
                <a16:creationId xmlns:a16="http://schemas.microsoft.com/office/drawing/2014/main" id="{ACEADB26-D941-22C3-5CEB-59D43F465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40054"/>
            <a:ext cx="6277047" cy="2874854"/>
          </a:xfrm>
        </p:spPr>
      </p:pic>
      <p:pic>
        <p:nvPicPr>
          <p:cNvPr id="9" name="Picture 8" descr="A graph of a graph showing the number of objects&#10;&#10;AI-generated content may be incorrect.">
            <a:extLst>
              <a:ext uri="{FF2B5EF4-FFF2-40B4-BE49-F238E27FC236}">
                <a16:creationId xmlns:a16="http://schemas.microsoft.com/office/drawing/2014/main" id="{853092E1-3E3E-2743-AE1C-ED6A15F57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082" y="3594457"/>
            <a:ext cx="6277047" cy="289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15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38906-250D-3F5E-E18A-B9739CA22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0504-3CA4-B625-ACA8-D94F8239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Error Rate Requirements for Iceberg</a:t>
            </a:r>
          </a:p>
        </p:txBody>
      </p:sp>
      <p:pic>
        <p:nvPicPr>
          <p:cNvPr id="6" name="Content Placeholder 5" descr="A graph of different shapes and sizes&#10;&#10;AI-generated content may be incorrect.">
            <a:extLst>
              <a:ext uri="{FF2B5EF4-FFF2-40B4-BE49-F238E27FC236}">
                <a16:creationId xmlns:a16="http://schemas.microsoft.com/office/drawing/2014/main" id="{8E7A9EF2-227C-2230-8155-F745D8FF1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39" y="1375197"/>
            <a:ext cx="5538897" cy="2536785"/>
          </a:xfr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1414D0AF-51DB-E277-D167-3A265C830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079" y="1375197"/>
            <a:ext cx="5632721" cy="2626013"/>
          </a:xfrm>
          <a:prstGeom prst="rect">
            <a:avLst/>
          </a:prstGeom>
        </p:spPr>
      </p:pic>
      <p:pic>
        <p:nvPicPr>
          <p:cNvPr id="12" name="Picture 11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EB3862AF-537D-2C01-37AC-63E64992C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639" y="4001210"/>
            <a:ext cx="5632721" cy="262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65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7FAE-2FE1-5199-5827-323E2D5C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Physical Error Rate Requirements for Iceberg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973A5-6BE9-5DF7-CA89-F46B4772F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Iceberg begins underperforming physical compilation for</a:t>
            </a:r>
          </a:p>
          <a:p>
            <a:pPr marL="0" indent="0">
              <a:buNone/>
            </a:pPr>
            <a:r>
              <a:rPr lang="en-GB" dirty="0"/>
              <a:t>   alpha &gt; 0.04. This corresponds to the following error rates:</a:t>
            </a:r>
          </a:p>
          <a:p>
            <a:pPr lvl="1"/>
            <a:r>
              <a:rPr lang="en-GB" dirty="0"/>
              <a:t>Qubit initialization error probability (reset) = 0.12%</a:t>
            </a:r>
          </a:p>
          <a:p>
            <a:pPr lvl="1"/>
            <a:r>
              <a:rPr lang="en-GB" dirty="0"/>
              <a:t>Qubit readout error probability (measure) = 0.12%</a:t>
            </a:r>
          </a:p>
          <a:p>
            <a:pPr lvl="1"/>
            <a:r>
              <a:rPr lang="en-GB" dirty="0"/>
              <a:t>1-qubit gate error probability = 0.004%</a:t>
            </a:r>
          </a:p>
          <a:p>
            <a:pPr lvl="1"/>
            <a:r>
              <a:rPr lang="en-GB" dirty="0"/>
              <a:t>2-qubit gate error probability = 0.04%</a:t>
            </a:r>
          </a:p>
        </p:txBody>
      </p:sp>
    </p:spTree>
    <p:extLst>
      <p:ext uri="{BB962C8B-B14F-4D97-AF65-F5344CB8AC3E}">
        <p14:creationId xmlns:p14="http://schemas.microsoft.com/office/powerpoint/2010/main" val="713959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089C-F793-C796-74CB-155494903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764" y="365125"/>
            <a:ext cx="6283036" cy="1325563"/>
          </a:xfrm>
        </p:spPr>
        <p:txBody>
          <a:bodyPr/>
          <a:lstStyle/>
          <a:p>
            <a:r>
              <a:rPr lang="en-GB" dirty="0"/>
              <a:t>Implementing Hadamard Test using [[4, 2, 2]]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FF43C4-6ACF-5411-010E-73AF65CB2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891" y="1594228"/>
            <a:ext cx="8067304" cy="5263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A2CE06-3886-226E-25DB-6B9A6A7D0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23" y="98426"/>
            <a:ext cx="4608068" cy="176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56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FE98-D17E-AABB-9A0E-6D7CA690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C3A8D-49BE-E11C-9D80-8B22EEAFC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about the movement that is needed for the final decoding step?</a:t>
            </a:r>
          </a:p>
          <a:p>
            <a:endParaRPr lang="en-GB" dirty="0"/>
          </a:p>
          <a:p>
            <a:r>
              <a:rPr lang="en-GB" dirty="0"/>
              <a:t>What is the difference between version 1 and 2 of the </a:t>
            </a:r>
            <a:r>
              <a:rPr lang="en-GB"/>
              <a:t>circuits?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5722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B499-FD9E-0FB7-1F30-046427858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Correction/Update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3D364-C29C-EADB-A40A-DF45E9441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833145"/>
          </a:xfrm>
        </p:spPr>
        <p:txBody>
          <a:bodyPr/>
          <a:lstStyle/>
          <a:p>
            <a:r>
              <a:rPr lang="en-GB" dirty="0"/>
              <a:t>The output shown last week was an artifact of low shot rate coupled with </a:t>
            </a:r>
            <a:r>
              <a:rPr lang="en-GB"/>
              <a:t>low post-selection </a:t>
            </a:r>
            <a:r>
              <a:rPr lang="en-GB" dirty="0"/>
              <a:t>success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FD5A04-C351-9B67-AC38-CC976141A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400" y="2099853"/>
            <a:ext cx="7264400" cy="47398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38BCE2-391C-390C-DB24-82B1B3143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6" y="2892010"/>
            <a:ext cx="4018764" cy="262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1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CB3C-0641-B2A1-7A0F-03AF25D0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Second version of Hadamard Test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81FBB-F73E-ACFE-F555-A1E11AA85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74787"/>
            <a:ext cx="7943850" cy="51832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DDA779-4B87-E5AB-2AF9-DC6FE8374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050" y="0"/>
            <a:ext cx="3263900" cy="2473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22569B-EDBB-052E-4C7C-313EB9EE4F6C}"/>
              </a:ext>
            </a:extLst>
          </p:cNvPr>
          <p:cNvSpPr txBox="1"/>
          <p:nvPr/>
        </p:nvSpPr>
        <p:spPr>
          <a:xfrm>
            <a:off x="8420100" y="3604732"/>
            <a:ext cx="3694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Expected output is uniform superposition over qubits 1, 3, 4 but qubit 2 is always in the 0 state.</a:t>
            </a:r>
          </a:p>
        </p:txBody>
      </p:sp>
    </p:spTree>
    <p:extLst>
      <p:ext uri="{BB962C8B-B14F-4D97-AF65-F5344CB8AC3E}">
        <p14:creationId xmlns:p14="http://schemas.microsoft.com/office/powerpoint/2010/main" val="2499215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7321-986E-5A57-B090-62B1B9A4A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enforce Fault-Tolerance?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58CB6-4A38-B9CF-5BC0-9FFCDE929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1863880"/>
            <a:ext cx="6160281" cy="4409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D6A2C6-12F5-94FF-AF9D-DE35BFFF1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05412"/>
            <a:ext cx="4545329" cy="252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0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5701</TotalTime>
  <Words>1331</Words>
  <Application>Microsoft Macintosh PowerPoint</Application>
  <PresentationFormat>Widescreen</PresentationFormat>
  <Paragraphs>159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Office Theme</vt:lpstr>
      <vt:lpstr>Baker Group &lt;&gt; Infleqtion Exploration Direction and Potential Challenges</vt:lpstr>
      <vt:lpstr>Summary</vt:lpstr>
      <vt:lpstr>Circuit Generation</vt:lpstr>
      <vt:lpstr>Quantum Error Detection Space Exploration</vt:lpstr>
      <vt:lpstr>Some Questions Regarding the Shor Circuit</vt:lpstr>
      <vt:lpstr>Some Questions Regarding the Shor Circuit</vt:lpstr>
      <vt:lpstr>Estimates on Number of Shots Needed</vt:lpstr>
      <vt:lpstr>Estimates on Number of Shots Needed</vt:lpstr>
      <vt:lpstr>Estimates on Number of Shots Needed</vt:lpstr>
      <vt:lpstr>Estimates on Number of Shots Needed</vt:lpstr>
      <vt:lpstr>Estimates on Number of Shots Needed</vt:lpstr>
      <vt:lpstr>Logical Operators</vt:lpstr>
      <vt:lpstr>Logical Operators</vt:lpstr>
      <vt:lpstr>Logical Operators</vt:lpstr>
      <vt:lpstr>What can we do instead?</vt:lpstr>
      <vt:lpstr>Resources and Questions</vt:lpstr>
      <vt:lpstr>Shor’s Algorithm Circuit for N = 15, a = 2</vt:lpstr>
      <vt:lpstr>Shor’s Algorithm Circuit for N = 15, a = 2</vt:lpstr>
      <vt:lpstr>Shor’s Algorithm Circuit for N = 15, a = 2</vt:lpstr>
      <vt:lpstr>Compilation to [[8, 6, 2]] Code</vt:lpstr>
      <vt:lpstr>Caveats</vt:lpstr>
      <vt:lpstr>Next Steps</vt:lpstr>
      <vt:lpstr>Physical Error Rate Requirements for Iceberg</vt:lpstr>
      <vt:lpstr>Physical Error Rate Requirements for Iceberg</vt:lpstr>
      <vt:lpstr>Physical Error Rate Requirements for Iceberg</vt:lpstr>
      <vt:lpstr>Physical Error Rate Requirements for Iceberg</vt:lpstr>
      <vt:lpstr>Physical Error Rate Requirements for Iceberg</vt:lpstr>
      <vt:lpstr>Implementing Hadamard Test using [[4, 2, 2]]</vt:lpstr>
      <vt:lpstr>Questions</vt:lpstr>
      <vt:lpstr>Correction/Update from Last Week</vt:lpstr>
      <vt:lpstr>Second version of Hadamard Test</vt:lpstr>
      <vt:lpstr>How to enforce Fault-Tolerance?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Sayam Sethi</dc:creator>
  <cp:lastModifiedBy>Sayam Sethi</cp:lastModifiedBy>
  <cp:revision>43</cp:revision>
  <dcterms:created xsi:type="dcterms:W3CDTF">2025-03-14T01:34:50Z</dcterms:created>
  <dcterms:modified xsi:type="dcterms:W3CDTF">2025-05-16T19:08:09Z</dcterms:modified>
</cp:coreProperties>
</file>